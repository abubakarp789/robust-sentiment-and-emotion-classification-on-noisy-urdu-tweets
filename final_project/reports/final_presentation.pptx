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34d04c7ab24cbf" /><Relationship Type="http://schemas.openxmlformats.org/officeDocument/2006/relationships/extended-properties" Target="/docProps/app.xml" Id="Rab587b57e57945f0" /><Relationship Type="http://schemas.openxmlformats.org/officeDocument/2006/relationships/officeDocument" Target="/ppt/presentation.xml" Id="Refd3030d77bf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e655dabb9469c"/>
  </p:sldMasterIdLst>
  <p:notesMasterIdLst>
    <p:notesMasterId xmlns:r="http://schemas.openxmlformats.org/officeDocument/2006/relationships" r:id="R5754d78843ef4ed2"/>
  </p:notesMasterIdLst>
  <p:sldIdLst>
    <p:sldId xmlns:r="http://schemas.openxmlformats.org/officeDocument/2006/relationships" id="256" r:id="Rbc8d64874085416a"/>
    <p:sldId xmlns:r="http://schemas.openxmlformats.org/officeDocument/2006/relationships" id="257" r:id="Rcf0257e92ec64fcc"/>
    <p:sldId xmlns:r="http://schemas.openxmlformats.org/officeDocument/2006/relationships" id="258" r:id="R4e89ace0ce6841fc"/>
    <p:sldId xmlns:r="http://schemas.openxmlformats.org/officeDocument/2006/relationships" id="259" r:id="R039b466fa6a24b3c"/>
    <p:sldId xmlns:r="http://schemas.openxmlformats.org/officeDocument/2006/relationships" id="260" r:id="R70efd7bbe67d4b92"/>
    <p:sldId xmlns:r="http://schemas.openxmlformats.org/officeDocument/2006/relationships" id="261" r:id="R209111cd63fd49eb"/>
    <p:sldId xmlns:r="http://schemas.openxmlformats.org/officeDocument/2006/relationships" id="262" r:id="R60cce6ccb13343e9"/>
    <p:sldId xmlns:r="http://schemas.openxmlformats.org/officeDocument/2006/relationships" id="263" r:id="R1f316fd9d2424c16"/>
    <p:sldId xmlns:r="http://schemas.openxmlformats.org/officeDocument/2006/relationships" id="264" r:id="R67d294b590054f89"/>
    <p:sldId xmlns:r="http://schemas.openxmlformats.org/officeDocument/2006/relationships" id="265" r:id="Rbbd7e191a5ec48f9"/>
    <p:sldId xmlns:r="http://schemas.openxmlformats.org/officeDocument/2006/relationships" id="266" r:id="R7f0e429a43e24499"/>
    <p:sldId xmlns:r="http://schemas.openxmlformats.org/officeDocument/2006/relationships" id="267" r:id="R957b14dd81c24e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8406504e7c4eeb" /><Relationship Type="http://schemas.openxmlformats.org/officeDocument/2006/relationships/slideMaster" Target="/ppt/slideMasters/slideMaster1.xml" Id="R00ce655dabb9469c" /><Relationship Type="http://schemas.openxmlformats.org/officeDocument/2006/relationships/notesMaster" Target="/ppt/notesMasters/notesMaster1.xml" Id="R5754d78843ef4ed2" /><Relationship Type="http://schemas.openxmlformats.org/officeDocument/2006/relationships/presProps" Target="/ppt/presProps.xml" Id="Rb0a90629bf4447f2" /><Relationship Type="http://schemas.openxmlformats.org/officeDocument/2006/relationships/tableStyles" Target="/ppt/tableStyles.xml" Id="Rcd11112134db4c43" /><Relationship Type="http://schemas.openxmlformats.org/officeDocument/2006/relationships/slide" Target="/ppt/slides/slide1.xml" Id="Rbc8d64874085416a" /><Relationship Type="http://schemas.openxmlformats.org/officeDocument/2006/relationships/slide" Target="/ppt/slides/slide2.xml" Id="Rcf0257e92ec64fcc" /><Relationship Type="http://schemas.openxmlformats.org/officeDocument/2006/relationships/slide" Target="/ppt/slides/slide3.xml" Id="R4e89ace0ce6841fc" /><Relationship Type="http://schemas.openxmlformats.org/officeDocument/2006/relationships/slide" Target="/ppt/slides/slide4.xml" Id="R039b466fa6a24b3c" /><Relationship Type="http://schemas.openxmlformats.org/officeDocument/2006/relationships/slide" Target="/ppt/slides/slide5.xml" Id="R70efd7bbe67d4b92" /><Relationship Type="http://schemas.openxmlformats.org/officeDocument/2006/relationships/slide" Target="/ppt/slides/slide6.xml" Id="R209111cd63fd49eb" /><Relationship Type="http://schemas.openxmlformats.org/officeDocument/2006/relationships/slide" Target="/ppt/slides/slide7.xml" Id="R60cce6ccb13343e9" /><Relationship Type="http://schemas.openxmlformats.org/officeDocument/2006/relationships/slide" Target="/ppt/slides/slide8.xml" Id="R1f316fd9d2424c16" /><Relationship Type="http://schemas.openxmlformats.org/officeDocument/2006/relationships/slide" Target="/ppt/slides/slide9.xml" Id="R67d294b590054f89" /><Relationship Type="http://schemas.openxmlformats.org/officeDocument/2006/relationships/slide" Target="/ppt/slides/slide10.xml" Id="Rbbd7e191a5ec48f9" /><Relationship Type="http://schemas.openxmlformats.org/officeDocument/2006/relationships/slide" Target="/ppt/slides/slide11.xml" Id="R7f0e429a43e24499" /><Relationship Type="http://schemas.openxmlformats.org/officeDocument/2006/relationships/slide" Target="/ppt/slides/slide12.xml" Id="R957b14dd81c24e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1ce1fbf08d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ed626099d4076" /><Relationship Type="http://schemas.openxmlformats.org/officeDocument/2006/relationships/notesMaster" Target="/ppt/notesMasters/notesMaster1.xml" Id="R3ed03731e3b84a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b48d83353491f" /><Relationship Type="http://schemas.openxmlformats.org/officeDocument/2006/relationships/notesMaster" Target="/ppt/notesMasters/notesMaster1.xml" Id="R443ebe7c5049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737dd59d7a48ec" /><Relationship Type="http://schemas.openxmlformats.org/officeDocument/2006/relationships/notesMaster" Target="/ppt/notesMasters/notesMaster1.xml" Id="Rbdf26ed0c5c5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dff01df6ed44cd" /><Relationship Type="http://schemas.openxmlformats.org/officeDocument/2006/relationships/notesMaster" Target="/ppt/notesMasters/notesMaster1.xml" Id="R009eec2d545d4e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72d5580e484087" /><Relationship Type="http://schemas.openxmlformats.org/officeDocument/2006/relationships/notesMaster" Target="/ppt/notesMasters/notesMaster1.xml" Id="Red9035fa8b5b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a493ade2394f25" /><Relationship Type="http://schemas.openxmlformats.org/officeDocument/2006/relationships/notesMaster" Target="/ppt/notesMasters/notesMaster1.xml" Id="Rd6c61d85b20345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e24e2ddf7485d" /><Relationship Type="http://schemas.openxmlformats.org/officeDocument/2006/relationships/notesMaster" Target="/ppt/notesMasters/notesMaster1.xml" Id="Rc5a725344f2248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f972c7d63e4a8c" /><Relationship Type="http://schemas.openxmlformats.org/officeDocument/2006/relationships/notesMaster" Target="/ppt/notesMasters/notesMaster1.xml" Id="Rfcdb8c38eb5d4d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ca2b217e3d49fa" /><Relationship Type="http://schemas.openxmlformats.org/officeDocument/2006/relationships/notesMaster" Target="/ppt/notesMasters/notesMaster1.xml" Id="Rcc4711ae4e164f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6f1809c1149c8" /><Relationship Type="http://schemas.openxmlformats.org/officeDocument/2006/relationships/notesMaster" Target="/ppt/notesMasters/notesMaster1.xml" Id="R189a6299df8d42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10eea5fec743fe" /><Relationship Type="http://schemas.openxmlformats.org/officeDocument/2006/relationships/notesMaster" Target="/ppt/notesMasters/notesMaster1.xml" Id="R626439811970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34e9e63c304eed" /><Relationship Type="http://schemas.openxmlformats.org/officeDocument/2006/relationships/notesMaster" Target="/ppt/notesMasters/notesMaster1.xml" Id="Ra7f443b2725740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verified scope: two tasks, eight models, 36 official runs.</a:t>
            </a:r>
          </a:p>
          <a:p xmlns:a="http://schemas.openxmlformats.org/drawingml/2006/main">
            <a:r>
              <a:t>Do not promise a grade; state that evidence coverage maps to the full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this qualifies as a complex computational problem.</a:t>
            </a:r>
          </a:p>
          <a:p xmlns:a="http://schemas.openxmlformats.org/drawingml/2006/main">
            <a:r>
              <a:t>Emphasize that weak labels limit the meaning of any test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</a:t>
            </a:r>
          </a:p>
          <a:p xmlns:a="http://schemas.openxmlformats.org/drawingml/2006/main">
            <a:r>
              <a:t>The key engineering change is task and run isolation.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the absolute phrase leakage-free.</a:t>
            </a:r>
          </a:p>
          <a:p xmlns:a="http://schemas.openxmlformats.org/drawingml/2006/main">
            <a:r>
              <a:t>State exactly what was measured and what remains uncertain.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Classical and neural use seeds 42, 52, 62.</a:t>
            </a:r>
          </a:p>
          <a:p xmlns:a="http://schemas.openxmlformats.org/drawingml/2006/main">
            <a:r>
              <a:t>Transformer pilots use seed 42, 50k rows, one epoch due to the 24–36 hour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validation ranking, then reveal the test metric.</a:t>
            </a:r>
          </a:p>
          <a:p xmlns:a="http://schemas.openxmlformats.org/drawingml/2006/main">
            <a:r>
              <a:t>Text-CNN is second by validation mean but shows seed variation.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Emotion macro-F1 is low despite high accuracy.</a:t>
            </a:r>
          </a:p>
          <a:p xmlns:a="http://schemas.openxmlformats.org/drawingml/2006/main">
            <a:r>
              <a:t>Use this slide to explain imbalance, not to hide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intervals and the distinction between decision score and probability.</a:t>
            </a:r>
          </a:p>
          <a:p xmlns:a="http://schemas.openxmlformats.org/drawingml/2006/main">
            <a:r>
              <a:t>Bootstrap uncertainty does not remove weak-label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Neutral and Surprise supports.</a:t>
            </a:r>
          </a:p>
          <a:p xmlns:a="http://schemas.openxmlformats.org/drawingml/2006/main">
            <a:r>
              <a:t>Class weighting helps, but cannot create information that weak rare labels do not contain.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rare-class errors and majority bias.</a:t>
            </a:r>
          </a:p>
          <a:p xmlns:a="http://schemas.openxmlformats.org/drawingml/2006/main">
            <a:r>
              <a:t>Do not manually interpret disputed examples as gold mistakes.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path: switch task, select Linear SVM, enter Urdu text, show cleaning, predict, inspect leaderboard.</a:t>
            </a:r>
          </a:p>
          <a:p xmlns:a="http://schemas.openxmlformats.org/drawingml/2006/main">
            <a:r>
              <a:t>Mention that Transformer loading is local and may take longer.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concrete next step: human annotation.</a:t>
            </a:r>
          </a:p>
          <a:p xmlns:a="http://schemas.openxmlformats.org/drawingml/2006/main">
            <a:r>
              <a:t>Invite questions about the group-safe split, run matrix, or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caea9ec2044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841657d8f44f0a" /><Relationship Type="http://schemas.openxmlformats.org/officeDocument/2006/relationships/slideLayout" Target="/ppt/slideLayouts/slideLayout1.xml" Id="R9cc0e04c210f40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0e04c210f40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233f9e1d64f85" /><Relationship Type="http://schemas.openxmlformats.org/officeDocument/2006/relationships/notesSlide" Target="/ppt/notesSlides/notesSlide1.xml" Id="Re75da3e23a404c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faa5f332d4062" /><Relationship Type="http://schemas.openxmlformats.org/officeDocument/2006/relationships/notesSlide" Target="/ppt/notesSlides/notesSlide2.xml" Id="R27740328e70743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b4112124c4a80" /><Relationship Type="http://schemas.openxmlformats.org/officeDocument/2006/relationships/notesSlide" Target="/ppt/notesSlides/notesSlide3.xml" Id="R0350f6f1bc584f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7d473a6f64598" /><Relationship Type="http://schemas.openxmlformats.org/officeDocument/2006/relationships/notesSlide" Target="/ppt/notesSlides/notesSlide4.xml" Id="R933677b005d94f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0c1f8e3ca4c53" /><Relationship Type="http://schemas.openxmlformats.org/officeDocument/2006/relationships/notesSlide" Target="/ppt/notesSlides/notesSlide5.xml" Id="Rdaf98804d5454e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58c63192f4c4e" /><Relationship Type="http://schemas.openxmlformats.org/officeDocument/2006/relationships/chart" Target="/ppt/slides/charts/chart1.xml" Id="R54de3fa2dbe043cb" /><Relationship Type="http://schemas.openxmlformats.org/officeDocument/2006/relationships/notesSlide" Target="/ppt/notesSlides/notesSlide6.xml" Id="Rd5215498ae7f44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7d43f5fb8488b" /><Relationship Type="http://schemas.openxmlformats.org/officeDocument/2006/relationships/chart" Target="/ppt/slides/charts/chart2.xml" Id="R4ba2f5ebd40843fb" /><Relationship Type="http://schemas.openxmlformats.org/officeDocument/2006/relationships/notesSlide" Target="/ppt/notesSlides/notesSlide7.xml" Id="R149dad1cb40d44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3b084ef4240af" /><Relationship Type="http://schemas.openxmlformats.org/officeDocument/2006/relationships/notesSlide" Target="/ppt/notesSlides/notesSlide8.xml" Id="Rd382b6796b2141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d770f191c49fa" /><Relationship Type="http://schemas.openxmlformats.org/officeDocument/2006/relationships/chart" Target="/ppt/slides/charts/chart3.xml" Id="Rf8e3e15da7af4cae" /><Relationship Type="http://schemas.openxmlformats.org/officeDocument/2006/relationships/chart" Target="/ppt/slides/charts/chart4.xml" Id="R5f4ef0019e5f42ca" /><Relationship Type="http://schemas.openxmlformats.org/officeDocument/2006/relationships/notesSlide" Target="/ppt/notesSlides/notesSlide9.xml" Id="Rf39bf0f9509146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1f03cbfea4f11" /><Relationship Type="http://schemas.openxmlformats.org/officeDocument/2006/relationships/image" Target="/ppt/media/image.png" Id="R3742e6b8600d4822" /><Relationship Type="http://schemas.openxmlformats.org/officeDocument/2006/relationships/image" Target="/ppt/media/image2.png" Id="R384d677cbc834d83" /><Relationship Type="http://schemas.openxmlformats.org/officeDocument/2006/relationships/notesSlide" Target="/ppt/notesSlides/notesSlide10.xml" Id="Rfea9706b862240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98c77bcaf4d20" /><Relationship Type="http://schemas.openxmlformats.org/officeDocument/2006/relationships/notesSlide" Target="/ppt/notesSlides/notesSlide11.xml" Id="Rc30dc03cc1e346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5184d994d4dc7" /><Relationship Type="http://schemas.openxmlformats.org/officeDocument/2006/relationships/notesSlide" Target="/ppt/notesSlides/notesSlide12.xml" Id="R12cdb3373ab84f4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Validation macro-F1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Linear SVM</c:v>
              </c:pt>
              <c:pt idx="1">
                <c:v>Text-CNN</c:v>
              </c:pt>
              <c:pt idx="2">
                <c:v>Logistic Reg.</c:v>
              </c:pt>
              <c:pt idx="3">
                <c:v>BiLSTM-Attn</c:v>
              </c:pt>
              <c:pt idx="4">
                <c:v>Urdu-R</c:v>
              </c:pt>
              <c:pt idx="5">
                <c:v>XLM-R</c:v>
              </c:pt>
              <c:pt idx="6">
                <c:v>mBERT</c:v>
              </c:pt>
              <c:pt idx="7">
                <c:v>Multinomial NB</c:v>
              </c:pt>
            </c:strLit>
          </c:cat>
          <c:val>
            <c:numLit>
              <c:formatCode>General</c:formatCode>
              <c:ptCount val="8"/>
              <c:pt idx="0">
                <c:v>0.4578</c:v>
              </c:pt>
              <c:pt idx="1">
                <c:v>0.4329</c:v>
              </c:pt>
              <c:pt idx="2">
                <c:v>0.4317</c:v>
              </c:pt>
              <c:pt idx="3">
                <c:v>0.4231</c:v>
              </c:pt>
              <c:pt idx="4">
                <c:v>0.4172</c:v>
              </c:pt>
              <c:pt idx="5">
                <c:v>0.4091</c:v>
              </c:pt>
              <c:pt idx="6">
                <c:v>0.4074</c:v>
              </c:pt>
              <c:pt idx="7">
                <c:v>0.3867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E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Validation macro-F1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Linear SVM</c:v>
              </c:pt>
              <c:pt idx="1">
                <c:v>Logistic Reg.</c:v>
              </c:pt>
              <c:pt idx="2">
                <c:v>BiLSTM-Attn</c:v>
              </c:pt>
              <c:pt idx="3">
                <c:v>Urdu-R</c:v>
              </c:pt>
              <c:pt idx="4">
                <c:v>XLM-R</c:v>
              </c:pt>
              <c:pt idx="5">
                <c:v>mBERT</c:v>
              </c:pt>
              <c:pt idx="6">
                <c:v>Multinomial NB</c:v>
              </c:pt>
              <c:pt idx="7">
                <c:v>Text-CNN</c:v>
              </c:pt>
            </c:strLit>
          </c:cat>
          <c:val>
            <c:numLit>
              <c:formatCode>General</c:formatCode>
              <c:ptCount val="8"/>
              <c:pt idx="0">
                <c:v>0.2856</c:v>
              </c:pt>
              <c:pt idx="1">
                <c:v>0.2652</c:v>
              </c:pt>
              <c:pt idx="2">
                <c:v>0.2179</c:v>
              </c:pt>
              <c:pt idx="3">
                <c:v>0.2167</c:v>
              </c:pt>
              <c:pt idx="4">
                <c:v>0.2126</c:v>
              </c:pt>
              <c:pt idx="5">
                <c:v>0.2106</c:v>
              </c:pt>
              <c:pt idx="6">
                <c:v>0.2002</c:v>
              </c:pt>
              <c:pt idx="7">
                <c:v>0.194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E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F33"/>
                </a:solidFill>
              </a:rPr>
              <a:t>Sentiment retained rows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F33"/>
              </a:solidFill>
            </a:defRPr>
          </a:pPr>
        </a:p>
      </c:txPr>
    </c:title>
    <c:autoTitleDeleted val="0"/>
    <c:plotArea>
      <c:layout/>
      <c:barChart>
        <c:barDir val="col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Negative</c:v>
              </c:pt>
              <c:pt idx="1">
                <c:v>Neutral</c:v>
              </c:pt>
              <c:pt idx="2">
                <c:v>Positive</c:v>
              </c:pt>
            </c:strLit>
          </c:cat>
          <c:val>
            <c:numLit>
              <c:formatCode>General</c:formatCode>
              <c:ptCount val="3"/>
              <c:pt idx="0">
                <c:v>57874</c:v>
              </c:pt>
              <c:pt idx="1">
                <c:v>1228</c:v>
              </c:pt>
              <c:pt idx="2">
                <c:v>387643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03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E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F33"/>
                </a:solidFill>
              </a:rPr>
              <a:t>Emotion retained rows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F33"/>
              </a:solidFill>
            </a:defRPr>
          </a:pPr>
        </a:p>
      </c:txPr>
    </c:title>
    <c:autoTitleDeleted val="0"/>
    <c:plotArea>
      <c:layout/>
      <c:barChart>
        <c:barDir val="col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Angry</c:v>
              </c:pt>
              <c:pt idx="1">
                <c:v>Disgust</c:v>
              </c:pt>
              <c:pt idx="2">
                <c:v>Fear</c:v>
              </c:pt>
              <c:pt idx="3">
                <c:v>Joy</c:v>
              </c:pt>
              <c:pt idx="4">
                <c:v>Sad</c:v>
              </c:pt>
              <c:pt idx="5">
                <c:v>Surprise</c:v>
              </c:pt>
            </c:strLit>
          </c:cat>
          <c:val>
            <c:numLit>
              <c:formatCode>General</c:formatCode>
              <c:ptCount val="6"/>
              <c:pt idx="0">
                <c:v>2475</c:v>
              </c:pt>
              <c:pt idx="1">
                <c:v>13888</c:v>
              </c:pt>
              <c:pt idx="2">
                <c:v>1512</c:v>
              </c:pt>
              <c:pt idx="3">
                <c:v>387643</c:v>
              </c:pt>
              <c:pt idx="4">
                <c:v>39894</c:v>
              </c:pt>
              <c:pt idx="5">
                <c:v>1228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03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B7E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6CC412C-F16E-403E-AEB4-6E2BAB7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GROUP-SAFE URDU NLP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3376885-A0AE-4A38-A3C5-27E6E4B3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Sentiment and Emotion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Classification on Noisy Urdu Tweets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ADD93A-8EAA-4D4C-BA99-1FC374F3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7E4"/>
                </a:solidFill>
              </a:defRPr>
            </a:pPr>
            <a:r>
              <a:rPr sz="1575" b="0">
                <a:solidFill>
                  <a:srgbClr val="C8D7E4"/>
                </a:solidFill>
              </a:rPr>
              <a:t>A verified dual-task benchmark with separate pipelines, validation-only selection, and complete run artifacts.</a:t>
            </a:r>
          </a:p>
        </p:txBody>
      </p:sp>
      <p:sp>
        <p:nvSpPr>
          <p:cNvPr id="4" name="metric">
            <a:extLst xmlns:a="http://schemas.openxmlformats.org/drawingml/2006/main">
              <a:ext uri="{FF2B5EF4-FFF2-40B4-BE49-F238E27FC236}">
                <a16:creationId xmlns:a16="http://schemas.microsoft.com/office/drawing/2014/main" id="{EC17876B-50D4-49A2-9181-3ECC48B0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FAA8-B551-4DBE-BFE9-06D7DF3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F13BBB9-2B88-4BC8-B1DD-E7AE09F6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36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4CFE351-FD4D-4470-ACFF-43FDCE58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official runs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024FFBC8-E79D-4E89-9636-2DD2E48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85738-5B68-4F45-B44B-3C99604E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7A6D58D-BE29-4E4F-A574-BA59ACB6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672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2</a:t>
            </a:r>
          </a:p>
        </p:txBody>
      </p:sp>
      <p:sp>
        <p:nvSpPr>
          <p:cNvPr id="1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83889E0-1123-4CC9-8B92-A7D6E321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911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classification tasks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A69E0601-9423-4699-8193-BE565FC1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577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3026F-04E5-4D9E-AFDA-B1139BD7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577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38B6099-85E7-4B08-86C3-17A7343C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8</a:t>
            </a:r>
          </a:p>
        </p:txBody>
      </p:sp>
      <p:sp>
        <p:nvSpPr>
          <p:cNvPr id="1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2F51FAB-6660-4D5D-8E6A-6784B13E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911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evaluated models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85412C-FD91-4D63-B2E7-2D4A09E5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M. Raqib Hayat  |  Abu Bakar</a:t>
            </a:r>
          </a:p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CSC-355 • Namal University Mianwali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51B302A-DF84-4779-BB33-F48C9090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19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FB2C4"/>
                </a:solidFill>
              </a:defRPr>
            </a:pPr>
            <a:r>
              <a:rPr sz="900" b="0">
                <a:solidFill>
                  <a:srgbClr val="9FB2C4"/>
                </a:solidFill>
              </a:rPr>
              <a:t>Verified June 15, 2026</a:t>
            </a:r>
          </a:p>
        </p:txBody>
      </p:sp>
    </p:spTree>
    <p:extLst>
      <p:ext uri="{BB962C8B-B14F-4D97-AF65-F5344CB8AC3E}">
        <p14:creationId xmlns:p14="http://schemas.microsoft.com/office/powerpoint/2010/main" val="739662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B202FC6-6937-4508-A961-0F64E13B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E3EABE-6AEC-4C29-B433-E4B1EDDA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A difficult NLP setting, not a clean benchmark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23684EE-27C8-4B6B-B41C-137A511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</a:defRPr>
            </a:pPr>
            <a:r>
              <a:rPr sz="1275" b="0">
                <a:solidFill>
                  <a:srgbClr val="5B6B7E"/>
                </a:solidFill>
              </a:rPr>
              <a:t>Weak labels, noisy Urdu text, duplicate structure, and extreme imbalance interact.</a:t>
            </a:r>
          </a:p>
        </p:txBody>
      </p:sp>
      <p:sp>
        <p:nvSpPr>
          <p:cNvPr id="4" name="metric">
            <a:extLst xmlns:a="http://schemas.openxmlformats.org/drawingml/2006/main">
              <a:ext uri="{FF2B5EF4-FFF2-40B4-BE49-F238E27FC236}">
                <a16:creationId xmlns:a16="http://schemas.microsoft.com/office/drawing/2014/main" id="{CB4C282C-E050-4C26-A7DD-F65F518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D34AE-EA8A-4C2E-9139-9985380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3768247-1FBA-4BFB-A7BF-B295A46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1,048,000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AFF90C4-E79E-4857-A785-CA53EC88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raw tweets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2B7E5E6C-BC8E-4D0B-B24F-4B0D0A7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812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15117-26F9-492A-9E5F-E782D1F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812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6E45F9F-A87F-4326-A931-D4D8E1CD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90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514,571</a:t>
            </a:r>
          </a:p>
        </p:txBody>
      </p:sp>
      <p:sp>
        <p:nvSpPr>
          <p:cNvPr id="1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2C71501-D702-4A3E-8CFA-6E9A66F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14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missing Category labels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88D6D042-6E6D-4877-9B32-88CC5C8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F3389-D801-4B6A-B114-58DF3862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237CD82-DB7C-4CB0-B208-920145D6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3 / 6</a:t>
            </a:r>
          </a:p>
        </p:txBody>
      </p:sp>
      <p:sp>
        <p:nvSpPr>
          <p:cNvPr id="1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C9133F4-BA10-4C3D-A5A4-B51B8D8C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sentiment / emotion classes</a:t>
            </a:r>
          </a:p>
        </p:txBody>
      </p:sp>
      <p:sp>
        <p:nvSpPr>
          <p:cNvPr id="16" name="metric">
            <a:extLst xmlns:a="http://schemas.openxmlformats.org/drawingml/2006/main">
              <a:ext uri="{FF2B5EF4-FFF2-40B4-BE49-F238E27FC236}">
                <a16:creationId xmlns:a16="http://schemas.microsoft.com/office/drawing/2014/main" id="{B266A435-8661-46A7-A414-59CC5F7A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812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FE7A0-98A2-4D7F-BD19-7DD8858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812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43829DF-B696-403D-B5ED-CCDD24B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90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Weak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F31A705-DD91-4289-8336-3A787F9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14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reference labels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4C546B52-B0AA-4741-800F-3A7077A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91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0D1268-C845-478A-A110-FD3E5AEB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Language challenges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1B74D33-758F-4F29-A74B-6A82418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4524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Urdu script and Roman Urdu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English code-mixing and spelling variation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Sarcasm, negation, short context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URLs, mentions, hashtags, and emojis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9BA9B94-DCA9-4307-AD5F-83619C5C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29000"/>
            <a:ext cx="53625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B9DDD8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F9FF20-EB54-459C-BFF7-D533899C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Evaluation consequence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4492D61-D8EE-4784-BCF1-33042DB0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4619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Accuracy alone rewards majority prediction. The project therefore selects by validation macro-F1 and preserves per-class reports, confusion matrices, predictions, and uncertainty.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D8DBF-49B2-406B-943F-1D88C75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502ACA37-FEAF-4840-B3BF-FC506E1B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Raw dataset and official split summaries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9FFF0B01-40CA-4FFC-9251-625C8CA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3933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51A2839-8030-47A4-A1B0-24F1C3B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SYSTEM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88752F-DE7F-4DAA-9483-A59480D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One shared cleaning policy, two isolated task pipelines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69678907-064E-4E4D-B44A-FC6186C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556D78-4869-4CCB-BED0-26BA37E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B7E"/>
                </a:solidFill>
              </a:defRPr>
            </a:pPr>
            <a:r>
              <a:rPr sz="1050" b="1">
                <a:solidFill>
                  <a:srgbClr val="5B6B7E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CE78C6-4C17-4208-AC46-EA96C86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Raw CSV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BDB799-17B8-4091-A2BB-D96DDE7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1.048M rows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092961-9CE8-4DB5-8354-777FA835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6CE9B29-7A39-49D3-AFE1-51FF40B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CCD409-F1D8-4439-8D30-C9AC160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B7E"/>
                </a:solidFill>
              </a:defRPr>
            </a:pPr>
            <a:r>
              <a:rPr sz="1050" b="1">
                <a:solidFill>
                  <a:srgbClr val="5B6B7E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9472FE-B0EA-4524-84BC-FD0253E0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Clean text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D41225C-5C87-48A0-BA1D-E9FF430E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emoji removed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B77E59-F6D2-433A-8DB6-E34A0D34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44B05F87-7DAC-4C16-988A-0AF65D9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475BE68-3BB5-4583-85DC-9889D442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B7E"/>
                </a:solidFill>
              </a:defRPr>
            </a:pPr>
            <a:r>
              <a:rPr sz="1050" b="1">
                <a:solidFill>
                  <a:srgbClr val="5B6B7E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0D95E4-12E0-4C74-BA8E-9D7282B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Group safety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B2449C-681A-425A-B867-21C5815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ID + text links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BBD7D02-6425-43DA-BA39-C9A74DD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23F538E5-5BAF-4292-878D-D3349FB3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F7D319B-C47D-4E6D-82DB-670E0709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EFE29A0-5B31-48E8-8B4B-54638F9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Task split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BB53B9C-AAD4-4B81-812C-4AA171D7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sentiment / emotion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0A5EB92-9ABE-4E22-A37A-1D31C44F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A3FED179-4CEB-4E74-8338-B09BE042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3656402-64C7-43CA-AE1C-40117CD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B7E"/>
                </a:solidFill>
              </a:defRPr>
            </a:pPr>
            <a:r>
              <a:rPr sz="1050" b="1">
                <a:solidFill>
                  <a:srgbClr val="5B6B7E"/>
                </a:solidFill>
              </a:rPr>
              <a:t>5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F373650-9983-4973-AB5A-FFFEAC7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8 models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30B859B-1269-4BC0-B607-19A8684F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3 families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2599F4D-3C32-48C2-8519-7718EDB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8BFDCB4C-3B04-4F23-9D45-BBD9B8B5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FB49C39-45AC-4946-B8CC-6F067585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B7E"/>
                </a:solidFill>
              </a:defRPr>
            </a:pPr>
            <a:r>
              <a:rPr sz="1050" b="1">
                <a:solidFill>
                  <a:srgbClr val="5B6B7E"/>
                </a:solidFill>
              </a:rPr>
              <a:t>6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4961921-4FDF-42E7-AB98-708D56B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Aggregate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7634729-65E3-4D9A-8FF5-BFC62A0B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validation rank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96A0CE3-7B18-4509-8DF4-CA9B5480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2B2A5F51-AF9F-430F-B2DE-140EF47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76500"/>
            <a:ext cx="1381125" cy="1428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C00B45D-A1BC-47D3-B4D1-686D6AE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28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B7E"/>
                </a:solidFill>
              </a:defRPr>
            </a:pPr>
            <a:r>
              <a:rPr sz="1050" b="1">
                <a:solidFill>
                  <a:srgbClr val="5B6B7E"/>
                </a:solidFill>
              </a:rPr>
              <a:t>7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5A9A6F1-A02E-4823-921B-0F1CFE15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099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Demo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07D448C-B3CD-43D7-9AFA-7697461F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4290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7E"/>
                </a:solidFill>
              </a:defRPr>
            </a:pPr>
            <a:r>
              <a:rPr sz="975" b="0">
                <a:solidFill>
                  <a:srgbClr val="5B6B7E"/>
                </a:solidFill>
              </a:rPr>
              <a:t>task selector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65104810-982E-4023-9FBE-2175ED40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45F6097-AF4D-4028-B0E5-497301E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Isolation rule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D9E90A1-B912-4631-B8D5-9B83D64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625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Every task / family / model / seed writes to its own models, predictions, results, and metadata directory.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93EE80-F40F-44C6-8CF4-7125CC1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41" name="source">
            <a:extLst xmlns:a="http://schemas.openxmlformats.org/drawingml/2006/main">
              <a:ext uri="{FF2B5EF4-FFF2-40B4-BE49-F238E27FC236}">
                <a16:creationId xmlns:a16="http://schemas.microsoft.com/office/drawing/2014/main" id="{1B35C55F-F59F-4000-90D1-94E3CB1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src/create_splits.py • src/run_experiments.py • src/aggregate_experiments.py</a:t>
            </a:r>
          </a:p>
        </p:txBody>
      </p:sp>
      <p:sp>
        <p:nvSpPr>
          <p:cNvPr id="42" name="page">
            <a:extLst xmlns:a="http://schemas.openxmlformats.org/drawingml/2006/main">
              <a:ext uri="{FF2B5EF4-FFF2-40B4-BE49-F238E27FC236}">
                <a16:creationId xmlns:a16="http://schemas.microsoft.com/office/drawing/2014/main" id="{6C93F1FB-DD9B-4A3A-BF48-A4531B8A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4190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DB2203C-2FEA-43C6-B36F-2C2CFDB0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DATA INTEGRITY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B04149-2DEF-4063-8C0C-CE5A31B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Connected duplicate groups stay in one partition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CE1C7BA-05DC-4C37-8C6A-0790F4D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</a:defRPr>
            </a:pPr>
            <a:r>
              <a:rPr sz="1275" b="0">
                <a:solidFill>
                  <a:srgbClr val="5B6B7E"/>
                </a:solidFill>
              </a:rPr>
              <a:t>Shared IDs or normalized text define connected components before splitting.</a:t>
            </a:r>
          </a:p>
        </p:txBody>
      </p:sp>
      <p:sp>
        <p:nvSpPr>
          <p:cNvPr id="4" name="metric">
            <a:extLst xmlns:a="http://schemas.openxmlformats.org/drawingml/2006/main">
              <a:ext uri="{FF2B5EF4-FFF2-40B4-BE49-F238E27FC236}">
                <a16:creationId xmlns:a16="http://schemas.microsoft.com/office/drawing/2014/main" id="{3A3FF7FC-3716-4561-9F4B-6EC080D3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5710-47EA-4FB4-B5EC-6273335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83B3A42-4B30-4B24-A1E2-39AE1759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446,745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188C499-06D4-4F53-90F5-6B0F6BEB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sentiment retained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1A30E10B-EC7E-4170-BC86-ACFED7FF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702AE-9023-49F4-9763-767EBB53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465B14B-E849-40D7-8B9B-647B67B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446,640</a:t>
            </a:r>
          </a:p>
        </p:txBody>
      </p:sp>
      <p:sp>
        <p:nvSpPr>
          <p:cNvPr id="1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D295B6D-F79F-4A18-811A-77F1D01D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336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emotion retained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CE704AF2-587C-4EB0-8D6E-05918658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44264-EC2A-4DB4-8BB3-C89BB26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FD477AC-A279-4960-A5C4-A9B223D2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12</a:t>
            </a:r>
          </a:p>
        </p:txBody>
      </p:sp>
      <p:sp>
        <p:nvSpPr>
          <p:cNvPr id="1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27CD5DE-B1BE-4AF3-B49C-B87657B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336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cross-split checks</a:t>
            </a:r>
          </a:p>
        </p:txBody>
      </p:sp>
      <p:sp>
        <p:nvSpPr>
          <p:cNvPr id="16" name="metric">
            <a:extLst xmlns:a="http://schemas.openxmlformats.org/drawingml/2006/main">
              <a:ext uri="{FF2B5EF4-FFF2-40B4-BE49-F238E27FC236}">
                <a16:creationId xmlns:a16="http://schemas.microsoft.com/office/drawing/2014/main" id="{D53F605E-085A-415D-9118-5A2F3BF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494CF-BCCE-49A2-9988-6CBF391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6AD55FF-FE46-4686-97A0-F7F185F5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0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25DA2E-16A9-4791-B223-37D32CFD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336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measured overlaps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219DD861-8C7C-4CAD-9436-C1293C31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2578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34B6CB-46E5-4627-895E-411288E0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Controls applied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B20EE3B-16E4-4BCD-8A29-E1331322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Remove emojis before feature extraction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Exclude conflicting-label connected groups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Deduplicate exact normalized text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 70 / 15 / 15 group-level stratified split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327B63DA-A994-458E-AD09-177B877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52578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D89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345735F-7422-498B-8B0F-12B7215F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5B00"/>
                </a:solidFill>
              </a:defRPr>
            </a:pPr>
            <a:r>
              <a:rPr sz="1650" b="1">
                <a:solidFill>
                  <a:srgbClr val="9A5B00"/>
                </a:solidFill>
              </a:rPr>
              <a:t>Precise claim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5EC5B64-FE1A-45E2-92DA-F2E75361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Automated checks found zero shared IDs and zero shared normalized texts across each train / validation / test pair. This does not make weak labels human-gold.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7CA81-C5EB-4040-B56C-1C13B6A0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72576892-7E40-4480-B48D-C7593A0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outputs/{task}/results/split_summary.json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935A4EFC-D283-4FEA-8E4E-2244CC8D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3047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CB82093-6FD7-4585-995B-09B01C09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EXPERIMENT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D3F04-748E-441D-B091-0D7DB50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Rigor where affordable, explicit constraints where not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92EC5A0-805B-44C2-8AA0-6E797B68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095DF-2CCF-46A2-A29D-ADBB5299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ECA7BE-FD8B-431C-A7DF-4CFC8B6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Classical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2DCADC-B3E8-41A1-A69B-ABA5551E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E"/>
                </a:solidFill>
              </a:defRPr>
            </a:pPr>
            <a:r>
              <a:rPr sz="1200" b="0">
                <a:solidFill>
                  <a:srgbClr val="5B6B7E"/>
                </a:solidFill>
              </a:rPr>
              <a:t>3 models × 3 seeds × 2 tasks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B73A91-E2F8-4A9A-BBEF-C9FA5C8B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 runs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0729007-E8F8-4C17-8E8E-CD2BAF7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4ADC9-22A7-4981-8FE9-84745284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05A90E-4028-4264-82B7-4CFC24D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Neural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B1EEF36-D816-4B52-89E5-250595A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E"/>
                </a:solidFill>
              </a:defRPr>
            </a:pPr>
            <a:r>
              <a:rPr sz="1200" b="0">
                <a:solidFill>
                  <a:srgbClr val="5B6B7E"/>
                </a:solidFill>
              </a:rPr>
              <a:t>2 models × 3 seeds × 2 tasks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8A5EFF-B718-4CE4-A1A7-44EAB061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12 runs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AE9E440-8D3C-40EC-B617-7374F0B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5EEDF-FF92-4DD7-8433-507AD6F4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F25543-20A7-4AEB-BA2C-0B3A88BB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Transformer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426F54-1390-4C48-9F95-0DE38281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E"/>
                </a:solidFill>
              </a:defRPr>
            </a:pPr>
            <a:r>
              <a:rPr sz="1200" b="0">
                <a:solidFill>
                  <a:srgbClr val="5B6B7E"/>
                </a:solidFill>
              </a:rPr>
              <a:t>3 models × 1 seed × 2 tasks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CAEF28D-8F4A-415D-BB86-98C7880D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6 runs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2C83C647-B5C1-4022-ADB1-DAC112EC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013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084D61F-ABA6-44C6-B040-9256851F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</a:defRPr>
            </a:pPr>
            <a:r>
              <a:rPr sz="1200" b="1">
                <a:solidFill>
                  <a:srgbClr val="14B8A6"/>
                </a:solidFill>
              </a:rPr>
              <a:t>Selection rule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60E85E0-AD7F-4E87-92B1-6F299621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33925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Rank by mean validation macro-F1. Test metrics never choose the model. Canonical seed = best validation seed; selected test predictions receive 1,000-sample bootstrap intervals.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E183C-F301-4E47-94C0-97DC881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524B84F8-AD39-48CB-86D6-4DA8615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reports/experiment_manifest.json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DA0ACEDB-8CFD-4324-90B4-3700743D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1087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D03CC94-C285-4267-B324-65FF6F9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SENTIMENT RESULTS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BBB949-A1C7-4672-AFF0-4063BF1E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Linear SVM ranks first on validation macro-F1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5D93964-F751-4CF7-BFD9-76A94A9C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</a:defRPr>
            </a:pPr>
            <a:r>
              <a:rPr sz="1275" b="0">
                <a:solidFill>
                  <a:srgbClr val="5B6B7E"/>
                </a:solidFill>
              </a:rPr>
              <a:t>Three-class task: Positive, Negative, Neutral.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de3fa2dbe043cb"/>
          </a:graphicData>
        </a:graphic>
      </p:graphicFrame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2A29406B-4327-4AF0-9605-19DB168C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00E3D-CEDA-42F6-96EE-D7955783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81D35D6-0389-4FE1-865E-320E4D32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0.4578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6D21985-F22F-477B-85A3-2A91EFDA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241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validation macro-F1</a:t>
            </a:r>
          </a:p>
        </p:txBody>
      </p:sp>
      <p:sp>
        <p:nvSpPr>
          <p:cNvPr id="9" name="metric">
            <a:extLst xmlns:a="http://schemas.openxmlformats.org/drawingml/2006/main">
              <a:ext uri="{FF2B5EF4-FFF2-40B4-BE49-F238E27FC236}">
                <a16:creationId xmlns:a16="http://schemas.microsoft.com/office/drawing/2014/main" id="{9918BD7A-556A-4921-A715-2C08BE3A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3E42C-D38E-4816-9447-52A8E447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E3CEDD1-24B2-4E8E-BA1D-2E81E416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0.4590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614A869-1267-47A3-B891-E62AB73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529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test macro-F1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D95F479-DF5F-45CF-91E6-C4A88E74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67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B7E"/>
                </a:solidFill>
              </a:defRPr>
            </a:pPr>
            <a:r>
              <a:rPr sz="1200" b="1">
                <a:solidFill>
                  <a:srgbClr val="5B6B7E"/>
                </a:solidFill>
              </a:rPr>
              <a:t>Selected by validation, not 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70A92-69C3-47B3-9C57-42DA07E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1CB8E901-9015-401D-810F-165CA553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outputs/sentiment/results/model_comparison_leaderboard.csv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40C8361C-7FD1-4170-8BD8-C12E29F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7903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F8FA5B-597B-4AA2-93CF-5B93085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EMOTION RESULTS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8733F7-212A-4ECA-9B7B-3228ED56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Six-class emotion classification is substantially harder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616218E-5D5C-416D-BF1A-4A931D5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</a:defRPr>
            </a:pPr>
            <a:r>
              <a:rPr sz="1275" b="0">
                <a:solidFill>
                  <a:srgbClr val="5B6B7E"/>
                </a:solidFill>
              </a:rPr>
              <a:t>Joy dominates; Angry, Fear, Disgust, Surprise, and Sad receive much less support.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a2f5ebd40843fb"/>
          </a:graphicData>
        </a:graphic>
      </p:graphicFrame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715F2A75-36B7-4F1C-B844-19BD67A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36817-C08C-48B2-AF7D-95FB263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B7CAD0A-AF5D-4CF7-9FFB-DBCCB05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0.2856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627FF03-32E0-4E79-9CC7-943A704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241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validation macro-F1</a:t>
            </a:r>
          </a:p>
        </p:txBody>
      </p:sp>
      <p:sp>
        <p:nvSpPr>
          <p:cNvPr id="9" name="metric">
            <a:extLst xmlns:a="http://schemas.openxmlformats.org/drawingml/2006/main">
              <a:ext uri="{FF2B5EF4-FFF2-40B4-BE49-F238E27FC236}">
                <a16:creationId xmlns:a16="http://schemas.microsoft.com/office/drawing/2014/main" id="{BD6A0D36-F180-40F6-B872-760A04D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EABC2-1F98-4E4B-BBBF-1867E89B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3B5CDE5-5A48-4AC1-872E-30EDC31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0.2854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20E20A2-C76D-40BB-8BDA-476ED62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529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test macro-F1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0B418B-1403-4215-A98A-39E00165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B7E"/>
                </a:solidFill>
              </a:defRPr>
            </a:pPr>
            <a:r>
              <a:rPr sz="1200" b="1">
                <a:solidFill>
                  <a:srgbClr val="5B6B7E"/>
                </a:solidFill>
              </a:rPr>
              <a:t>All eight models remain weak on rare classes.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6D764-ABFD-49E9-9530-2BF03737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25E7D86A-C285-416F-9AC5-D0DFD707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outputs/emotion/results/model_comparison_leaderboard.csv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301B183C-0DB9-4EEB-B1FE-698F6038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3351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DFAE9E1-2FAF-4901-9CEE-7D2F847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SELECTED MODELS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F28A63-2AEF-4A7D-BA38-52EF9394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Test results with uncertainty and honest score semantics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B79D70B4-547A-4BE1-B080-2FE063B0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B9DDD8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5ABFFB-57B6-40EA-8F06-B4F85E32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SENTIMENT • LINEAR SVM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EE1C55-6D71-4420-AB4D-81272B8F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0.4590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3797C1-08C6-48D0-A65C-7B6E69A2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29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E"/>
                </a:solidFill>
              </a:defRPr>
            </a:pPr>
            <a:r>
              <a:rPr sz="1200" b="0">
                <a:solidFill>
                  <a:srgbClr val="5B6B7E"/>
                </a:solidFill>
              </a:rPr>
              <a:t>test macro-F1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53EA7E-EAAB-47C4-BB42-03506E0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95% bootstrap: [0.4456, 0.4742]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B22D3B-4017-4B34-8BC6-201B076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</a:defRPr>
            </a:pPr>
            <a:r>
              <a:rPr sz="1125" b="0">
                <a:solidFill>
                  <a:srgbClr val="5B6B7E"/>
                </a:solidFill>
              </a:rPr>
              <a:t>Accuracy 0.8448 • Weighted-F1 0.8425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A58DFB9E-00F2-4BAA-A433-49AA990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87AA29-8D5B-4E0D-BCDF-F8FAA89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33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EMOTION • LINEAR SVM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54B374-F70D-46FC-B4E2-92D1A00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8130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0.2854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B837E0-72D8-4905-B7CC-C4304E63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29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E"/>
                </a:solidFill>
              </a:defRPr>
            </a:pPr>
            <a:r>
              <a:rPr sz="1200" b="0">
                <a:solidFill>
                  <a:srgbClr val="5B6B7E"/>
                </a:solidFill>
              </a:rPr>
              <a:t>test macro-F1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1D12B2-5E99-4F73-92FE-01DE4114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95% bootstrap: [0.2749, 0.2962]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4FE10F-7B49-4737-ABBA-0AA02CC5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</a:defRPr>
            </a:pPr>
            <a:r>
              <a:rPr sz="1125" b="0">
                <a:solidFill>
                  <a:srgbClr val="5B6B7E"/>
                </a:solidFill>
              </a:rPr>
              <a:t>Accuracy 0.8282 • Weighted-F1 0.8301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8B845870-AB8E-4DCE-9CB0-895A252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451B28-828B-4B33-A29E-4E24286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626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SVM output is a decision score, not a calibrated probability.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0E1E0-1FD3-4B38-A8D6-938554CB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F5272034-420E-406B-BC26-A632DBE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1,000-sample non-parametric bootstrap on canonical test predictions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6588BF6F-8FDA-4788-96E0-272E37B0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075323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CE89238-DF72-4AEE-80F7-53F26D0D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CLASS IMBALANCE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01F607-9D4B-44C7-9EBE-FAE1CB9E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majority label dominates both tasks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E6C36A7-D549-4541-A647-66B9B76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</a:defRPr>
            </a:pPr>
            <a:r>
              <a:rPr sz="1275" b="0">
                <a:solidFill>
                  <a:srgbClr val="5B6B7E"/>
                </a:solidFill>
              </a:rPr>
              <a:t>This explains why accuracy looks much stronger than macro-F1.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e3e15da7af4cae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381750" y="2047875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4ef0019e5f42ca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E80461-D7B1-4475-8C05-59080EBC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Macro-F1 gives each class equal importance; accuracy does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055B8-5571-4B64-8056-F8F4B25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A4A4DA60-BFB1-4B76-9C86-2918EC2E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outputs/{task}/results/split_summary.json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5511BB8F-251B-4E59-841D-08F0D68F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23645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8EA6A74-4648-48BA-AC15-BFEACF8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ERROR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C59375-7CEC-459C-A250-B64F45A6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Selected Linear SVM confusion matrices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19DC5C1-85FB-4AAF-9753-AF515EE9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E"/>
                </a:solidFill>
              </a:defRPr>
            </a:pPr>
            <a:r>
              <a:rPr sz="1275" b="0">
                <a:solidFill>
                  <a:srgbClr val="5B6B7E"/>
                </a:solidFill>
              </a:rPr>
              <a:t>Confusions remain concentrated around dominant labels and rare-class under-recall.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2e6b8600d4822"/>
          <a:stretch xmlns:a="http://schemas.openxmlformats.org/drawingml/2006/main"/>
        </p:blipFill>
        <p:spPr>
          <a:xfrm xmlns:a="http://schemas.openxmlformats.org/drawingml/2006/main">
            <a:off x="1121833" y="1952625"/>
            <a:ext cx="413808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d677cbc834d83"/>
          <a:stretch xmlns:a="http://schemas.openxmlformats.org/drawingml/2006/main"/>
        </p:blipFill>
        <p:spPr>
          <a:xfrm xmlns:a="http://schemas.openxmlformats.org/drawingml/2006/main">
            <a:off x="6932083" y="1952625"/>
            <a:ext cx="413808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D730F1-089D-4D7F-8EAB-D993A276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Weak-reference disagreement ≠ guaranteed linguistic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C5D77-CA2A-4EC8-9E26-9EE14487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59481511-FB43-4B42-AEC6-BC86523A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Canonical seed-42 test predictions and confusion matrices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2EC3683-98C6-4842-9DF4-907D72C6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74853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49A4A48-4EF7-4892-96B1-FEA6B0F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DEMONSTRATION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F84FEF-280F-441A-9246-9DD6A9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One interface, separate pipelines and saved models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47417AD-D1FB-4DAF-8386-28E362B6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6E0408-22B9-4D22-8B83-CC294025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476FEC-08F1-4B97-BEE5-5CBAE3E1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Choose task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9FE996-65F3-4E13-BF4D-AAC958CB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71875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Sentiment or Emotion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F6A5595-9F88-496C-95ED-4C295755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33625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157206-76E5-41B5-968C-C6894E31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C999A9-E8A2-4E25-801B-788E4A7F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95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Choose model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444202-681F-4C3F-9816-68E2285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71875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All eight saved models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78B84DA-DCDD-47E0-BE12-220EC8E1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33625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49B4D8-E527-4F8F-846D-D698FD2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75F839-5AB5-4ABB-BCEF-384700B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95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Enter Urdu text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F33E67-4453-4C5C-BD3B-2213F5DC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571875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Raw + cleaned view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0B8FAFE5-C706-497F-B014-692BD66B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33625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FBA60D-139F-4508-9947-513057B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E3EB1BB-1563-47B2-88E0-F083A61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95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Predict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A89FE6-5AAD-475A-814B-E3DD791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71875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Label + score semantics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5E770ED-6C08-4707-AB43-BD14CEE0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333625"/>
            <a:ext cx="2047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20656EF-03E6-4492-8CD4-9073778F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26E76D2-3962-4B11-B5D5-248E73F9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95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Inspect evidence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531CF5C-AD26-4580-923E-EBED30F3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71875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</a:defRPr>
            </a:pPr>
            <a:r>
              <a:rPr sz="1050" b="0">
                <a:solidFill>
                  <a:srgbClr val="5B6B7E"/>
                </a:solidFill>
              </a:rPr>
              <a:t>Validation leaderboard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0247E2F7-3565-4CAC-A970-A2FC3FFF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42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C725E16-DEFC-4B75-9470-3C452851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0540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app exposes the same preprocessing, validation ranking, weak-label disclosure, and task-specific artifacts used in this report.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3F5C7-44FE-45F8-AEDD-F859A54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26" name="source">
            <a:extLst xmlns:a="http://schemas.openxmlformats.org/drawingml/2006/main">
              <a:ext uri="{FF2B5EF4-FFF2-40B4-BE49-F238E27FC236}">
                <a16:creationId xmlns:a16="http://schemas.microsoft.com/office/drawing/2014/main" id="{AC0BF556-7329-4F3A-8E11-931FA2FF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</a:defRPr>
            </a:pPr>
            <a:r>
              <a:rPr sz="750" b="0">
                <a:solidFill>
                  <a:srgbClr val="5B6B7E"/>
                </a:solidFill>
              </a:rPr>
              <a:t>app/streamlit_app.py</a:t>
            </a:r>
          </a:p>
        </p:txBody>
      </p:sp>
      <p:sp>
        <p:nvSpPr>
          <p:cNvPr id="27" name="page">
            <a:extLst xmlns:a="http://schemas.openxmlformats.org/drawingml/2006/main">
              <a:ext uri="{FF2B5EF4-FFF2-40B4-BE49-F238E27FC236}">
                <a16:creationId xmlns:a16="http://schemas.microsoft.com/office/drawing/2014/main" id="{7CB96416-7488-48BC-B83E-E4B7FBD1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E"/>
                </a:solidFill>
              </a:defRPr>
            </a:pPr>
            <a:r>
              <a:rPr sz="825" b="1">
                <a:solidFill>
                  <a:srgbClr val="5B6B7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40036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CFE0177-3B08-4F4A-86F0-9C163F96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BDF27C8-1B49-4DEE-9C13-49ADF222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Rigor changed the result story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4DC2F8-03DF-4345-8E6D-5C20B97D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E2EC"/>
                </a:solidFill>
              </a:defRPr>
            </a:pPr>
            <a:r>
              <a:rPr sz="1650" b="0">
                <a:solidFill>
                  <a:srgbClr val="D5E2EC"/>
                </a:solidFill>
              </a:rPr>
              <a:t>The strongest defensible conclusion is not that one architecture solved Urdu emotion classification. It is that task isolation, duplicate controls, validation-only selection, repeated seeds, and complete artifacts produce a more honest benchmark.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5A7F22F5-58CC-4C11-B2C9-41F31E27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2314D"/>
          </a:solidFill>
          <a:ln xmlns:a="http://schemas.openxmlformats.org/drawingml/2006/main" w="9525">
            <a:solidFill>
              <a:srgbClr val="2A4C66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775C49-456E-4078-B710-A4100804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811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Final results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D62046-46A4-4710-941B-ECFDD685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52625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Sentiment  0.4590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Emotion    0.2854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C31828-5223-4ABB-B9DB-E55B36D2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4"/>
                </a:solidFill>
              </a:defRPr>
            </a:pPr>
            <a:r>
              <a:rPr sz="1050" b="0">
                <a:solidFill>
                  <a:srgbClr val="9FB2C4"/>
                </a:solidFill>
              </a:rPr>
              <a:t>test macro-F1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47690B5-7D2F-4E35-81B3-3B18645C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6870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B8A513-99C7-410E-8FA7-02F3C06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Highest-priority next step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5A9EBE-2BA4-46E2-8071-3F2DCFC6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Create an independently annotated native-speaker test set, measure agreement, and rerun evaluation without changing the official training splits.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9ABD78-1037-4DBF-B725-240A651E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D7E4"/>
                </a:solidFill>
              </a:defRPr>
            </a:pPr>
            <a:r>
              <a:rPr sz="1200" b="1">
                <a:solidFill>
                  <a:srgbClr val="C8D7E4"/>
                </a:solidFill>
              </a:rPr>
              <a:t>No human-gold evaluation is claimed in the current project.</a:t>
            </a:r>
          </a:p>
        </p:txBody>
      </p:sp>
    </p:spTree>
    <p:extLst>
      <p:ext uri="{BB962C8B-B14F-4D97-AF65-F5344CB8AC3E}">
        <p14:creationId xmlns:p14="http://schemas.microsoft.com/office/powerpoint/2010/main" val="1544541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2026-06-15T17:30:29.5280000Z</dcterms:created>
  <dcterms:modified xsi:type="dcterms:W3CDTF">2026-06-15T17:30:29.5280000Z</dcterms:modified>
</coreProperties>
</file>